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3365" autoAdjust="0"/>
    <p:restoredTop sz="85053" autoAdjust="0"/>
  </p:normalViewPr>
  <p:slideViewPr>
    <p:cSldViewPr snapToGrid="0" snapToObjects="1">
      <p:cViewPr varScale="1">
        <p:scale>
          <a:sx n="54" d="100"/>
          <a:sy n="54" d="100"/>
        </p:scale>
        <p:origin x="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R² Score by Model (higher =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3A2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Ridge</c:v>
                </c:pt>
                <c:pt idx="1">
                  <c:v>Lasso</c:v>
                </c:pt>
                <c:pt idx="2">
                  <c:v>Elastic Net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0.874</c:v>
                </c:pt>
                <c:pt idx="1">
                  <c:v>0.876</c:v>
                </c:pt>
                <c:pt idx="2">
                  <c:v>0.875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32-49A4-9757-3E4DED2493B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8500000000000001"/>
          <c:min val="0.85"/>
        </c:scaling>
        <c:delete val="0"/>
        <c:axPos val="l"/>
        <c:majorGridlines>
          <c:spPr>
            <a:ln w="9525" cap="flat">
              <a:solidFill>
                <a:srgbClr val="D9E0D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RMSE by Model (lower =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C97B3D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3A2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Ridge</c:v>
                </c:pt>
                <c:pt idx="1">
                  <c:v>Lasso</c:v>
                </c:pt>
                <c:pt idx="2">
                  <c:v>Elastic Net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302.57</c:v>
                </c:pt>
                <c:pt idx="1">
                  <c:v>299.49</c:v>
                </c:pt>
                <c:pt idx="2">
                  <c:v>300.72000000000003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84-467F-B4AE-DAF79D6815D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5"/>
          <c:min val="295"/>
        </c:scaling>
        <c:delete val="0"/>
        <c:axPos val="l"/>
        <c:majorGridlines>
          <c:spPr>
            <a:ln w="9525" cap="flat">
              <a:solidFill>
                <a:srgbClr val="D9E0D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8073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AA6E9-C288-A131-B54B-1675263D8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90C849-B1FD-69DF-6589-B3EE54D868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AAC5DC-D082-6C87-ED25-22B1E2925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D0A613-8C97-4B76-D5C4-E33725B0A4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9704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4754880" cy="4754880"/>
          </a:xfrm>
          <a:prstGeom prst="ellipse">
            <a:avLst/>
          </a:prstGeom>
          <a:solidFill>
            <a:srgbClr val="2C5F2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120640"/>
            <a:ext cx="3108960" cy="3108960"/>
          </a:xfrm>
          <a:prstGeom prst="ellipse">
            <a:avLst/>
          </a:prstGeom>
          <a:solidFill>
            <a:srgbClr val="97BC62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-1463040"/>
            <a:ext cx="3291840" cy="3291840"/>
          </a:xfrm>
          <a:prstGeom prst="ellipse">
            <a:avLst/>
          </a:prstGeom>
          <a:solidFill>
            <a:srgbClr val="97BC62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685800"/>
            <a:ext cx="777240" cy="77724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6" name="Image 0" descr="/home/claude/work/icons/leaf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229" y="779069"/>
            <a:ext cx="590702" cy="5907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71323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REGRESSION PROJECT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71514" y="179451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Agriculture: Crop Yield Prediction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671514" y="2756916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EEF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Ridge, Lasso, and Elastic Net Regression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11506" y="4235958"/>
            <a:ext cx="5297805" cy="2096262"/>
          </a:xfrm>
          <a:prstGeom prst="roundRect">
            <a:avLst>
              <a:gd name="adj" fmla="val 390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Text 8"/>
          <p:cNvSpPr/>
          <p:nvPr/>
        </p:nvSpPr>
        <p:spPr>
          <a:xfrm>
            <a:off x="916229" y="4330827"/>
            <a:ext cx="1703070" cy="3040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r>
              <a:rPr lang="en-US" sz="28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826770" y="4730877"/>
            <a:ext cx="2834640" cy="14744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Thipireddy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Hansini</a:t>
            </a:r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2520030095  | Section 8</a:t>
            </a:r>
          </a:p>
          <a:p>
            <a:pPr marL="0" indent="0">
              <a:buNone/>
            </a:pPr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Sakili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Poojitha Reddy</a:t>
            </a:r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2520030110  | Section 8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720840" y="4441698"/>
            <a:ext cx="4754880" cy="3817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GUIDENCE OF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3337560" y="4860036"/>
            <a:ext cx="5166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51560" y="519379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337560" y="5193792"/>
            <a:ext cx="5166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51560" y="552754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117531" y="5527548"/>
            <a:ext cx="5166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51560" y="586130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747510" y="4936617"/>
            <a:ext cx="3882390" cy="1062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Shaik Asif</a:t>
            </a:r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Professor, CSE</a:t>
            </a:r>
            <a:endParaRPr lang="en-US" dirty="0"/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81C5D06E-BA7A-A42A-3A2D-8FB0A13B9781}"/>
              </a:ext>
            </a:extLst>
          </p:cNvPr>
          <p:cNvSpPr/>
          <p:nvPr/>
        </p:nvSpPr>
        <p:spPr>
          <a:xfrm>
            <a:off x="6282690" y="4293108"/>
            <a:ext cx="5267325" cy="2069973"/>
          </a:xfrm>
          <a:prstGeom prst="roundRect">
            <a:avLst>
              <a:gd name="adj" fmla="val 390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/home/claude/work/icons/seedlin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31" y="452079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47472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6720840" cy="4937760"/>
          </a:xfrm>
          <a:prstGeom prst="roundRect">
            <a:avLst>
              <a:gd name="adj" fmla="val 1481"/>
            </a:avLst>
          </a:prstGeom>
          <a:solidFill>
            <a:srgbClr val="EEF3E8"/>
          </a:solidFill>
          <a:ln/>
        </p:spPr>
      </p:sp>
      <p:sp>
        <p:nvSpPr>
          <p:cNvPr id="6" name="Shape 3"/>
          <p:cNvSpPr/>
          <p:nvPr/>
        </p:nvSpPr>
        <p:spPr>
          <a:xfrm>
            <a:off x="731520" y="1581912"/>
            <a:ext cx="109728" cy="109728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1435608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depends on many interacting factors: soil nutrients, rainfall, temperature, humidity, fertilizer and pesticide usage.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31520" y="2752344"/>
            <a:ext cx="109728" cy="109728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260604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estimation methods (averages, simple rules) struggle to capture non-linear, multi-variable relationships in agricultural data.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31520" y="3922776"/>
            <a:ext cx="109728" cy="109728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3776472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regression can learn statistical relationships between agricultural / environmental factors and crop yield.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731520" y="5093208"/>
            <a:ext cx="109728" cy="109728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13" name="Text 10"/>
          <p:cNvSpPr/>
          <p:nvPr/>
        </p:nvSpPr>
        <p:spPr>
          <a:xfrm>
            <a:off x="960120" y="4946904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predicts crop yield and compares three regularized linear regression techniques on a real multi-source agricultural dataset.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7406640" y="1234440"/>
            <a:ext cx="4343400" cy="1417320"/>
          </a:xfrm>
          <a:prstGeom prst="roundRect">
            <a:avLst>
              <a:gd name="adj" fmla="val 5161"/>
            </a:avLst>
          </a:prstGeom>
          <a:solidFill>
            <a:srgbClr val="2C5F2D"/>
          </a:solidFill>
          <a:ln/>
        </p:spPr>
      </p:sp>
      <p:sp>
        <p:nvSpPr>
          <p:cNvPr id="15" name="Text 12"/>
          <p:cNvSpPr/>
          <p:nvPr/>
        </p:nvSpPr>
        <p:spPr>
          <a:xfrm>
            <a:off x="763524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635240" y="162763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yield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7635240" y="2148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Supervised Regression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406640" y="2834640"/>
            <a:ext cx="4343400" cy="1965960"/>
          </a:xfrm>
          <a:prstGeom prst="roundRect">
            <a:avLst>
              <a:gd name="adj" fmla="val 3721"/>
            </a:avLst>
          </a:prstGeom>
          <a:solidFill>
            <a:srgbClr val="EEF3E8"/>
          </a:solidFill>
          <a:ln w="12700">
            <a:solidFill>
              <a:srgbClr val="D9E0D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35240" y="29443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635240" y="32735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Ridge Regression  (L2)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635240" y="369417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Lasso Regression  (L1)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635240" y="4114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Elastic Net  (L1 + L2)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406640" y="4937760"/>
            <a:ext cx="4343400" cy="1234440"/>
          </a:xfrm>
          <a:prstGeom prst="roundRect">
            <a:avLst>
              <a:gd name="adj" fmla="val 5926"/>
            </a:avLst>
          </a:prstGeom>
          <a:solidFill>
            <a:srgbClr val="C97B3D">
              <a:alpha val="90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7635240" y="502920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regularization? Later analysis shows several predictors (e.g. area, fertilizer, pesticide) are highly correlated — regularization controls coefficient size and reduces overfitting from this multicollinearity.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Prediction · Ridge, Lasso &amp; Elastic Net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/home/claude/work/icons/databas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31" y="452079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47472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Identification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EEF3E8"/>
          </a:solidFill>
          <a:ln/>
        </p:spPr>
      </p:sp>
      <p:sp>
        <p:nvSpPr>
          <p:cNvPr id="6" name="Shape 3"/>
          <p:cNvSpPr/>
          <p:nvPr/>
        </p:nvSpPr>
        <p:spPr>
          <a:xfrm>
            <a:off x="685800" y="141732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7" name="Image 1" descr="/home/claude/work/icons/leaf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50" y="1477670"/>
            <a:ext cx="382219" cy="3822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1325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19,689 × 9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325880" y="1828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crop_yield.csv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270248" y="123444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EEF3E8"/>
          </a:solidFill>
          <a:ln/>
        </p:spPr>
      </p:sp>
      <p:sp>
        <p:nvSpPr>
          <p:cNvPr id="11" name="Shape 7"/>
          <p:cNvSpPr/>
          <p:nvPr/>
        </p:nvSpPr>
        <p:spPr>
          <a:xfrm>
            <a:off x="4498848" y="141732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2" name="Image 2" descr="/home/claude/work/icons/flas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9198" y="1477670"/>
            <a:ext cx="382219" cy="38221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38928" y="1325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× 5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5138928" y="1828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state_soil_data.csv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8083296" y="123444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EEF3E8"/>
          </a:solidFill>
          <a:ln/>
        </p:spPr>
      </p:sp>
      <p:sp>
        <p:nvSpPr>
          <p:cNvPr id="16" name="Shape 11"/>
          <p:cNvSpPr/>
          <p:nvPr/>
        </p:nvSpPr>
        <p:spPr>
          <a:xfrm>
            <a:off x="8311896" y="141732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7" name="Image 3" descr="/home/claude/work/icons/rain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2246" y="1477670"/>
            <a:ext cx="382219" cy="38221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951976" y="1325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720 × 5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8951976" y="1828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state_weather_data_1997_2020.csv</a:t>
            </a:r>
            <a:endParaRPr lang="en-US" sz="11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71800"/>
          <a:ext cx="11274552" cy="265176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96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crop_yield.csv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19,689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 / yield records and agricultural inputs (area, production, fertilizer, pesticide)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state_soil_data.csv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State-level soil nutrient profile (N, P, K, pH)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state_weather_data_1997_2020.csv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State-year weather (temperature, rainfall, humidity), 1997–2020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Text 14"/>
          <p:cNvSpPr/>
          <p:nvPr/>
        </p:nvSpPr>
        <p:spPr>
          <a:xfrm>
            <a:off x="457200" y="5989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period: 1997–2020 (based on the uploaded weather and crop-yield records). All three files cover the same 30 Indian states, enabling a join on state (and state + year for weather).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Prediction · Ridge, Lasso &amp; Elastic Net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/home/claude/work/icons/chartba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31" y="452079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47472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Snapshot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457200" y="12344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crop_yield.csv (sample rows)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268712" y="12344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19,689 × 9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27048"/>
          <a:ext cx="10360152" cy="109728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fertilizer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pesticide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Arecanut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Year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73,814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56,708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7,024,878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22,882.3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Coconut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Year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19,656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126,905,000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1,870,662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6,093.4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5238.05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Cotton(lint)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Kharif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1,739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165,501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539.1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3246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state_soil_data.csv (sample rows)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480560" y="3246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× 5</a:t>
            </a:r>
            <a:endParaRPr lang="en-US" sz="1100" dirty="0"/>
          </a:p>
        </p:txBody>
      </p:sp>
      <p:graphicFrame>
        <p:nvGraphicFramePr>
          <p:cNvPr id="1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38728"/>
          <a:ext cx="5486400" cy="10972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Andhra Pradesh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Arunachal Pradesh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6245352" y="3246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state_weather_data_1997_2020.csv (sample rows)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10268712" y="3246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720 × 5</a:t>
            </a:r>
            <a:endParaRPr lang="en-US" sz="110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538728"/>
          <a:ext cx="5486400" cy="10972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avg_temp_c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rainfall_mm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humidity_%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Andhra Pradesh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1,191.08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Andhra Pradesh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1,100.41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71.95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Andhra Pradesh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603.67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66.91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Shape 8"/>
          <p:cNvSpPr/>
          <p:nvPr/>
        </p:nvSpPr>
        <p:spPr>
          <a:xfrm>
            <a:off x="457200" y="544068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EEF3E8"/>
          </a:solidFill>
          <a:ln/>
        </p:spPr>
      </p:sp>
      <p:sp>
        <p:nvSpPr>
          <p:cNvPr id="15" name="Text 9"/>
          <p:cNvSpPr/>
          <p:nvPr/>
        </p:nvSpPr>
        <p:spPr>
          <a:xfrm>
            <a:off x="685800" y="5559552"/>
            <a:ext cx="108173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crop_yield.csv row for Coconut (Assam, 1997) already hints at a key EDA finding — Coconut yield (5238) is measured on a very different numeric scale from most other crops (see Slide 6).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Prediction · Ridge, Lasso &amp; Elastic Net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/home/claude/work/icons/broom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31" y="452079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47472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Integration &amp; Preprocessing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5394960" cy="3429000"/>
          </a:xfrm>
          <a:prstGeom prst="roundRect">
            <a:avLst>
              <a:gd name="adj" fmla="val 2133"/>
            </a:avLst>
          </a:prstGeom>
          <a:solidFill>
            <a:srgbClr val="EEF3E8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three files are joined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85800" y="187452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874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crop_yield.csv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85800" y="251460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2514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state_soil_data.csv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85800" y="315468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3154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state_weather_data.csv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794760" y="2331720"/>
            <a:ext cx="1783080" cy="1005840"/>
          </a:xfrm>
          <a:prstGeom prst="roundRect">
            <a:avLst>
              <a:gd name="adj" fmla="val 5455"/>
            </a:avLst>
          </a:prstGeom>
          <a:solidFill>
            <a:srgbClr val="2C5F2D"/>
          </a:solidFill>
          <a:ln/>
        </p:spPr>
      </p:sp>
      <p:sp>
        <p:nvSpPr>
          <p:cNvPr id="14" name="Text 11"/>
          <p:cNvSpPr/>
          <p:nvPr/>
        </p:nvSpPr>
        <p:spPr>
          <a:xfrm>
            <a:off x="3794760" y="233172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Table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2697480" y="2103120"/>
            <a:ext cx="1097280" cy="731520"/>
          </a:xfrm>
          <a:prstGeom prst="line">
            <a:avLst/>
          </a:prstGeom>
          <a:noFill/>
          <a:ln w="22225">
            <a:solidFill>
              <a:srgbClr val="C97B3D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2697480" y="2743200"/>
            <a:ext cx="1097280" cy="137160"/>
          </a:xfrm>
          <a:prstGeom prst="line">
            <a:avLst/>
          </a:prstGeom>
          <a:noFill/>
          <a:ln w="22225">
            <a:solidFill>
              <a:srgbClr val="C97B3D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2697480" y="3383280"/>
            <a:ext cx="1097280" cy="0"/>
          </a:xfrm>
          <a:prstGeom prst="line">
            <a:avLst/>
          </a:prstGeom>
          <a:noFill/>
          <a:ln w="22225">
            <a:solidFill>
              <a:srgbClr val="C97B3D"/>
            </a:solidFill>
            <a:prstDash val="solid"/>
            <a:tailEnd type="triangle"/>
          </a:ln>
        </p:spPr>
      </p:sp>
      <p:sp>
        <p:nvSpPr>
          <p:cNvPr id="18" name="Text 15"/>
          <p:cNvSpPr/>
          <p:nvPr/>
        </p:nvSpPr>
        <p:spPr>
          <a:xfrm>
            <a:off x="685800" y="37033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crop_yield joins soil data on state, and weather data on state + year.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85800" y="404164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19,689 × 16 merged rows, 0 missing values — every crop_yield record retains its state's soil profile and its state-year weather.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080760" y="1280160"/>
            <a:ext cx="5650992" cy="4526280"/>
          </a:xfrm>
          <a:prstGeom prst="roundRect">
            <a:avLst>
              <a:gd name="adj" fmla="val 1616"/>
            </a:avLst>
          </a:prstGeom>
          <a:solidFill>
            <a:srgbClr val="EEF3E8"/>
          </a:solidFill>
          <a:ln/>
        </p:spPr>
      </p:sp>
      <p:sp>
        <p:nvSpPr>
          <p:cNvPr id="21" name="Text 18"/>
          <p:cNvSpPr/>
          <p:nvPr/>
        </p:nvSpPr>
        <p:spPr>
          <a:xfrm>
            <a:off x="6309360" y="14173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Steps Applied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355080" y="1865376"/>
            <a:ext cx="128016" cy="128016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23" name="Text 20"/>
          <p:cNvSpPr/>
          <p:nvPr/>
        </p:nvSpPr>
        <p:spPr>
          <a:xfrm>
            <a:off x="6583680" y="173736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F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 cleanup: 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and crop values in crop_yield.csv contain trailing spaces (e.g. ‘Kharif     ’, ‘Whole Year ’); stripped before grouping/encoding.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355080" y="2560320"/>
            <a:ext cx="128016" cy="128016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25" name="Text 22"/>
          <p:cNvSpPr/>
          <p:nvPr/>
        </p:nvSpPr>
        <p:spPr>
          <a:xfrm>
            <a:off x="6583680" y="2432304"/>
            <a:ext cx="50292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F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values: 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with .isnull().sum() on all three files: 0 missing values found in crop_yield.csv, state_soil_data.csv and state_weather_data_1997_2020.csv.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355080" y="3383280"/>
            <a:ext cx="128016" cy="128016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27" name="Text 24"/>
          <p:cNvSpPr/>
          <p:nvPr/>
        </p:nvSpPr>
        <p:spPr>
          <a:xfrm>
            <a:off x="6583680" y="325526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F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records: 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duplicate rows found in any of the three source files.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355080" y="3895344"/>
            <a:ext cx="128016" cy="128016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29" name="Text 26"/>
          <p:cNvSpPr/>
          <p:nvPr/>
        </p:nvSpPr>
        <p:spPr>
          <a:xfrm>
            <a:off x="6583680" y="3767328"/>
            <a:ext cx="50292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F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Post-merge check: 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merging on state (+ year), the combined table also has 0 missing values — every state/year in crop_yield.csv had a matching soil and weather record.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355080" y="4718304"/>
            <a:ext cx="128016" cy="128016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31" name="Text 28"/>
          <p:cNvSpPr/>
          <p:nvPr/>
        </p:nvSpPr>
        <p:spPr>
          <a:xfrm>
            <a:off x="6583680" y="459028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F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encoding: 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(55 categories), season (6), state (30) one-hot encoded.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355080" y="5230368"/>
            <a:ext cx="128016" cy="128016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33" name="Text 30"/>
          <p:cNvSpPr/>
          <p:nvPr/>
        </p:nvSpPr>
        <p:spPr>
          <a:xfrm>
            <a:off x="6583680" y="5102352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F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scaling: 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numeric predictors standardized (zero mean, unit variance) with StandardScaler before Ridge / Lasso / Elastic Net.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scaling matters: Ridge, Lasso and Elastic Net penalize coefficient magnitude directly, so unscaled features (fertilizer in millions vs. pH in single digits) would be penalized unfairly without standardization.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Prediction · Ridge, Lasso &amp; Elastic Net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/home/claude/work/icons/chartba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31" y="452079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47472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EDA: Crop Yield Distribution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188720" y="841248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9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694944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D9E0D2"/>
            </a:solidFill>
            <a:prstDash val="solid"/>
          </a:ln>
        </p:spPr>
      </p:sp>
      <p:pic>
        <p:nvPicPr>
          <p:cNvPr id="7" name="Image 1" descr="/home/claude/work/charts/yield_d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554480"/>
            <a:ext cx="6675120" cy="3749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5800" y="5394960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x-axis uses log(1 + yield) because raw yield ranges from 0 to 21,105 — plotting it directly would compress almost all records into a single bar.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7589520" y="1417320"/>
            <a:ext cx="4142232" cy="713232"/>
          </a:xfrm>
          <a:prstGeom prst="roundRect">
            <a:avLst>
              <a:gd name="adj" fmla="val 7692"/>
            </a:avLst>
          </a:prstGeom>
          <a:solidFill>
            <a:srgbClr val="EEF3E8"/>
          </a:solidFill>
          <a:ln/>
        </p:spPr>
      </p:sp>
      <p:sp>
        <p:nvSpPr>
          <p:cNvPr id="10" name="Text 6"/>
          <p:cNvSpPr/>
          <p:nvPr/>
        </p:nvSpPr>
        <p:spPr>
          <a:xfrm>
            <a:off x="7772400" y="14721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yield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7772400" y="17099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79.95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7589520" y="2240280"/>
            <a:ext cx="4142232" cy="713232"/>
          </a:xfrm>
          <a:prstGeom prst="roundRect">
            <a:avLst>
              <a:gd name="adj" fmla="val 7692"/>
            </a:avLst>
          </a:prstGeom>
          <a:solidFill>
            <a:srgbClr val="EEF3E8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0" y="22951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yield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7772400" y="253288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1.03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7589520" y="3063240"/>
            <a:ext cx="4142232" cy="713232"/>
          </a:xfrm>
          <a:prstGeom prst="roundRect">
            <a:avLst>
              <a:gd name="adj" fmla="val 7692"/>
            </a:avLst>
          </a:prstGeom>
          <a:solidFill>
            <a:srgbClr val="EEF3E8"/>
          </a:solidFill>
          <a:ln/>
        </p:spPr>
      </p:sp>
      <p:sp>
        <p:nvSpPr>
          <p:cNvPr id="16" name="Text 12"/>
          <p:cNvSpPr/>
          <p:nvPr/>
        </p:nvSpPr>
        <p:spPr>
          <a:xfrm>
            <a:off x="7772400" y="311810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Std. deviation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7772400" y="33558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878.31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7589520" y="3886200"/>
            <a:ext cx="4142232" cy="713232"/>
          </a:xfrm>
          <a:prstGeom prst="roundRect">
            <a:avLst>
              <a:gd name="adj" fmla="val 7692"/>
            </a:avLst>
          </a:prstGeom>
          <a:solidFill>
            <a:srgbClr val="EEF3E8"/>
          </a:solidFill>
          <a:ln/>
        </p:spPr>
      </p:sp>
      <p:sp>
        <p:nvSpPr>
          <p:cNvPr id="19" name="Text 15"/>
          <p:cNvSpPr/>
          <p:nvPr/>
        </p:nvSpPr>
        <p:spPr>
          <a:xfrm>
            <a:off x="7772400" y="39410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yield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7772400" y="41788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21,105 (Coconut, Telangana, 2014)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7589520" y="4800600"/>
            <a:ext cx="4142232" cy="1508760"/>
          </a:xfrm>
          <a:prstGeom prst="roundRect">
            <a:avLst>
              <a:gd name="adj" fmla="val 3636"/>
            </a:avLst>
          </a:prstGeom>
          <a:solidFill>
            <a:srgbClr val="2C5F2D"/>
          </a:solidFill>
          <a:ln/>
        </p:spPr>
      </p:sp>
      <p:sp>
        <p:nvSpPr>
          <p:cNvPr id="22" name="Text 18"/>
          <p:cNvSpPr/>
          <p:nvPr/>
        </p:nvSpPr>
        <p:spPr>
          <a:xfrm>
            <a:off x="7772400" y="4919472"/>
            <a:ext cx="37947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takeaways: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Yield is strongly right-skewed; most records sit below 2.4.
• Coconut (172 of 19,689 rows) is reported in a much larger unit than most crops and drives the extreme upper tail / outliers.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Prediction · Ridge, Lasso &amp; Elastic Net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/home/claude/work/icons/seedlin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31" y="452079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47472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EDA: Agricultural Factors vs. Yield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188720" y="841248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9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00" dirty="0"/>
          </a:p>
        </p:txBody>
      </p:sp>
      <p:pic>
        <p:nvPicPr>
          <p:cNvPr id="6" name="Image 1" descr="/home/claude/work/charts/agri_factors_vs_y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234440"/>
            <a:ext cx="7315200" cy="48006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0" y="1234440"/>
            <a:ext cx="3502152" cy="4892040"/>
          </a:xfrm>
          <a:prstGeom prst="roundRect">
            <a:avLst>
              <a:gd name="adj" fmla="val 2089"/>
            </a:avLst>
          </a:prstGeom>
          <a:solidFill>
            <a:srgbClr val="EEF3E8"/>
          </a:solidFill>
          <a:ln/>
        </p:spPr>
      </p:sp>
      <p:sp>
        <p:nvSpPr>
          <p:cNvPr id="8" name="Text 4"/>
          <p:cNvSpPr/>
          <p:nvPr/>
        </p:nvSpPr>
        <p:spPr>
          <a:xfrm>
            <a:off x="8458200" y="1371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458200" y="1783080"/>
            <a:ext cx="3108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were grouped into deciles of each factor and the mean log(yield) was plotted per decile.
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Fertilizer and pesticide show a mild upward trend across deciles.
• Rainfall and temperature show noisy, non-monotonic patterns — no clear linear trend at this aggregation level.
• This matches the very weak individual correlations with yield found in Slide 9 (all below 0.07 in magnitude).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Prediction · Ridge, Lasso &amp; Elastic Net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/home/claude/work/icons/flas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31" y="452079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47472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EDA: Soil Factors vs. Yield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188720" y="841248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9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00" dirty="0"/>
          </a:p>
        </p:txBody>
      </p:sp>
      <p:pic>
        <p:nvPicPr>
          <p:cNvPr id="6" name="Image 1" descr="/home/claude/work/charts/soil_factors_vs_y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234440"/>
            <a:ext cx="7315200" cy="48006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0" y="1234440"/>
            <a:ext cx="3502152" cy="4892040"/>
          </a:xfrm>
          <a:prstGeom prst="roundRect">
            <a:avLst>
              <a:gd name="adj" fmla="val 2089"/>
            </a:avLst>
          </a:prstGeom>
          <a:solidFill>
            <a:srgbClr val="EEF3E8"/>
          </a:solidFill>
          <a:ln/>
        </p:spPr>
      </p:sp>
      <p:sp>
        <p:nvSpPr>
          <p:cNvPr id="8" name="Text 4"/>
          <p:cNvSpPr/>
          <p:nvPr/>
        </p:nvSpPr>
        <p:spPr>
          <a:xfrm>
            <a:off x="8458200" y="1371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458200" y="1783080"/>
            <a:ext cx="3108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N, P, K and pH are state-level averages (one value per state), so their relationship with row-level yield is naturally weak and noisy.
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None of the four soil variables shows a consistent monotonic trend with mean log(yield).
• Potassium (K) and Phosphorus (P) show a rise only in the highest decile, not a steady trend.
• On their own, soil variables are weak predictors of yield — confirmed by the correlation analysis on Slide 9.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Prediction · Ridge, Lasso &amp; Elastic Net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/home/claude/work/icons/projectdiagram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31" y="452079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47472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EDA: Correlation Analysis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188720" y="841248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9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00" dirty="0"/>
          </a:p>
        </p:txBody>
      </p:sp>
      <p:pic>
        <p:nvPicPr>
          <p:cNvPr id="6" name="Image 1" descr="/home/claude/work/charts/correlation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88720"/>
            <a:ext cx="6035040" cy="5074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720840" y="1188720"/>
            <a:ext cx="5010912" cy="2331720"/>
          </a:xfrm>
          <a:prstGeom prst="roundRect">
            <a:avLst>
              <a:gd name="adj" fmla="val 3137"/>
            </a:avLst>
          </a:prstGeom>
          <a:solidFill>
            <a:srgbClr val="C97B3D">
              <a:alpha val="92000"/>
            </a:srgbClr>
          </a:solidFill>
          <a:ln/>
        </p:spPr>
      </p:sp>
      <p:sp>
        <p:nvSpPr>
          <p:cNvPr id="8" name="Text 4"/>
          <p:cNvSpPr/>
          <p:nvPr/>
        </p:nvSpPr>
        <p:spPr>
          <a:xfrm>
            <a:off x="6949440" y="12984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 detected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949440" y="1627632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area ↔ fertilizer: r = 0.97
• area ↔ pesticide: r = 0.97
• fertilizer ↔ pesticide: r = 0.95
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inputs move almost together (larger farmland → proportionally more fertilizer &amp; pesticide), which is exactly the scenario Ridge, Lasso and Elastic Net are designed to handle.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720840" y="3657600"/>
            <a:ext cx="5010912" cy="2606040"/>
          </a:xfrm>
          <a:prstGeom prst="roundRect">
            <a:avLst>
              <a:gd name="adj" fmla="val 2807"/>
            </a:avLst>
          </a:prstGeom>
          <a:solidFill>
            <a:srgbClr val="EEF3E8"/>
          </a:solidFill>
          <a:ln/>
        </p:spPr>
      </p:sp>
      <p:sp>
        <p:nvSpPr>
          <p:cNvPr id="11" name="Text 7"/>
          <p:cNvSpPr/>
          <p:nvPr/>
        </p:nvSpPr>
        <p:spPr>
          <a:xfrm>
            <a:off x="6949440" y="37673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yield (weak)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949440" y="4078224"/>
            <a:ext cx="4572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individual numeric feature correlates weakly with yield: humidity (0.06), temperature (0.05), K (0.04), P (0.04), rainfall (0.01), fertilizer (0.003), area (0.002), pesticide (0.002), N (0.001), pH (−0.02).
</a:t>
            </a:r>
            <a:r>
              <a:rPr lang="en-US" sz="11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does not mean these features are useless — yield depends on non-linear combinations and, most strongly, on crop identity (see Slide 12 model coefficients). It does mean simple linear correlation alone under-represents each factor's contribution.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Prediction · Ridge, Lasso &amp; Elastic Net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/home/claude/work/icons/cog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31" y="452079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47472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5394960" cy="2788920"/>
          </a:xfrm>
          <a:prstGeom prst="roundRect">
            <a:avLst>
              <a:gd name="adj" fmla="val 2623"/>
            </a:avLst>
          </a:prstGeom>
          <a:solidFill>
            <a:srgbClr val="EEF3E8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Features (10) — scaled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" y="17830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area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291840" y="17830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fertilizer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85800" y="216712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pesticide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291840" y="216712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 (soil nitrogen)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85800" y="255117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 (soil phosphorus)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291840" y="255117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 (soil potassium)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85800" y="293522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 (soil pH)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3291840" y="293522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avg_temp_c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85800" y="331927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total_rainfall_mm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3291840" y="331927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avg_humidity_percent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035040" y="1280160"/>
            <a:ext cx="5696712" cy="2788920"/>
          </a:xfrm>
          <a:prstGeom prst="roundRect">
            <a:avLst>
              <a:gd name="adj" fmla="val 2623"/>
            </a:avLst>
          </a:prstGeom>
          <a:solidFill>
            <a:srgbClr val="EEF3E8"/>
          </a:solidFill>
          <a:ln/>
        </p:spPr>
      </p:sp>
      <p:sp>
        <p:nvSpPr>
          <p:cNvPr id="18" name="Text 15"/>
          <p:cNvSpPr/>
          <p:nvPr/>
        </p:nvSpPr>
        <p:spPr>
          <a:xfrm>
            <a:off x="6263640" y="1417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Features (3) — one-hot encoded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263640" y="181051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589520" y="18105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unique values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263640" y="23134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589520" y="23134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(Kharif, Rabi, Whole Year, Summer, Autumn, Winter)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263640" y="281635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589520" y="28163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unique values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263640" y="338328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One-hot encoding expands these 3 columns into ~100 total input columns (with numeric features included) after encoding.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425196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C97B3D">
              <a:alpha val="9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685800" y="4389120"/>
            <a:ext cx="108173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Excluded: production.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is derived largely from production and area (correlation of production with yield = 0.57, while production correlates only 0.04 with area). Including production as a predictor would leak the target into the input and produce an unrealistically easy prediction task, so it is dropped from the feature set.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7200" y="544068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2C5F2D"/>
          </a:solidFill>
          <a:ln/>
        </p:spPr>
      </p:sp>
      <p:sp>
        <p:nvSpPr>
          <p:cNvPr id="29" name="Text 26"/>
          <p:cNvSpPr/>
          <p:nvPr/>
        </p:nvSpPr>
        <p:spPr>
          <a:xfrm>
            <a:off x="685800" y="5577840"/>
            <a:ext cx="10817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pipeline: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numeric features → StandardScaler   |   3 categorical features → One-Hot Encoding   |   Combined via a scikit-learn ColumnTransformer feeding Ridge / Lasso / Elastic Net.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Prediction · Ridge, Lasso &amp; Elastic Net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/home/claude/work/icons/rout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31" y="452079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47472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417320"/>
            <a:ext cx="1033272" cy="868680"/>
          </a:xfrm>
          <a:prstGeom prst="roundRect">
            <a:avLst>
              <a:gd name="adj" fmla="val 6316"/>
            </a:avLst>
          </a:prstGeom>
          <a:solidFill>
            <a:srgbClr val="2C5F2D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417320"/>
            <a:ext cx="10332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490472" y="1851660"/>
            <a:ext cx="123444" cy="0"/>
          </a:xfrm>
          <a:prstGeom prst="line">
            <a:avLst/>
          </a:prstGeom>
          <a:noFill/>
          <a:ln w="25400">
            <a:solidFill>
              <a:srgbClr val="C97B3D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1613916" y="1417320"/>
            <a:ext cx="1033272" cy="868680"/>
          </a:xfrm>
          <a:prstGeom prst="roundRect">
            <a:avLst>
              <a:gd name="adj" fmla="val 6316"/>
            </a:avLst>
          </a:prstGeom>
          <a:solidFill>
            <a:srgbClr val="97BC62"/>
          </a:solidFill>
          <a:ln/>
        </p:spPr>
      </p:sp>
      <p:sp>
        <p:nvSpPr>
          <p:cNvPr id="9" name="Text 6"/>
          <p:cNvSpPr/>
          <p:nvPr/>
        </p:nvSpPr>
        <p:spPr>
          <a:xfrm>
            <a:off x="1613916" y="1417320"/>
            <a:ext cx="10332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47188" y="1851660"/>
            <a:ext cx="123444" cy="0"/>
          </a:xfrm>
          <a:prstGeom prst="line">
            <a:avLst/>
          </a:prstGeom>
          <a:noFill/>
          <a:ln w="25400">
            <a:solidFill>
              <a:srgbClr val="C97B3D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770632" y="1417320"/>
            <a:ext cx="1033272" cy="868680"/>
          </a:xfrm>
          <a:prstGeom prst="roundRect">
            <a:avLst>
              <a:gd name="adj" fmla="val 6316"/>
            </a:avLst>
          </a:prstGeom>
          <a:solidFill>
            <a:srgbClr val="2C5F2D"/>
          </a:solidFill>
          <a:ln/>
        </p:spPr>
      </p:sp>
      <p:sp>
        <p:nvSpPr>
          <p:cNvPr id="12" name="Text 9"/>
          <p:cNvSpPr/>
          <p:nvPr/>
        </p:nvSpPr>
        <p:spPr>
          <a:xfrm>
            <a:off x="2770632" y="1417320"/>
            <a:ext cx="10332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803904" y="1851660"/>
            <a:ext cx="123444" cy="0"/>
          </a:xfrm>
          <a:prstGeom prst="line">
            <a:avLst/>
          </a:prstGeom>
          <a:noFill/>
          <a:ln w="25400">
            <a:solidFill>
              <a:srgbClr val="C97B3D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927348" y="1417320"/>
            <a:ext cx="1033272" cy="868680"/>
          </a:xfrm>
          <a:prstGeom prst="roundRect">
            <a:avLst>
              <a:gd name="adj" fmla="val 6316"/>
            </a:avLst>
          </a:prstGeom>
          <a:solidFill>
            <a:srgbClr val="97BC62"/>
          </a:solidFill>
          <a:ln/>
        </p:spPr>
      </p:sp>
      <p:sp>
        <p:nvSpPr>
          <p:cNvPr id="15" name="Text 12"/>
          <p:cNvSpPr/>
          <p:nvPr/>
        </p:nvSpPr>
        <p:spPr>
          <a:xfrm>
            <a:off x="3927348" y="1417320"/>
            <a:ext cx="10332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960620" y="1851660"/>
            <a:ext cx="123444" cy="0"/>
          </a:xfrm>
          <a:prstGeom prst="line">
            <a:avLst/>
          </a:prstGeom>
          <a:noFill/>
          <a:ln w="25400">
            <a:solidFill>
              <a:srgbClr val="C97B3D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5084064" y="1417320"/>
            <a:ext cx="1033272" cy="868680"/>
          </a:xfrm>
          <a:prstGeom prst="roundRect">
            <a:avLst>
              <a:gd name="adj" fmla="val 6316"/>
            </a:avLst>
          </a:prstGeom>
          <a:solidFill>
            <a:srgbClr val="2C5F2D"/>
          </a:solidFill>
          <a:ln/>
        </p:spPr>
      </p:sp>
      <p:sp>
        <p:nvSpPr>
          <p:cNvPr id="18" name="Text 15"/>
          <p:cNvSpPr/>
          <p:nvPr/>
        </p:nvSpPr>
        <p:spPr>
          <a:xfrm>
            <a:off x="5084064" y="1417320"/>
            <a:ext cx="10332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117336" y="1851660"/>
            <a:ext cx="123444" cy="0"/>
          </a:xfrm>
          <a:prstGeom prst="line">
            <a:avLst/>
          </a:prstGeom>
          <a:noFill/>
          <a:ln w="25400">
            <a:solidFill>
              <a:srgbClr val="C97B3D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240780" y="1417320"/>
            <a:ext cx="1033272" cy="868680"/>
          </a:xfrm>
          <a:prstGeom prst="roundRect">
            <a:avLst>
              <a:gd name="adj" fmla="val 6316"/>
            </a:avLst>
          </a:prstGeom>
          <a:solidFill>
            <a:srgbClr val="97BC62"/>
          </a:solidFill>
          <a:ln/>
        </p:spPr>
      </p:sp>
      <p:sp>
        <p:nvSpPr>
          <p:cNvPr id="21" name="Text 18"/>
          <p:cNvSpPr/>
          <p:nvPr/>
        </p:nvSpPr>
        <p:spPr>
          <a:xfrm>
            <a:off x="6240780" y="1417320"/>
            <a:ext cx="10332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274052" y="1851660"/>
            <a:ext cx="123444" cy="0"/>
          </a:xfrm>
          <a:prstGeom prst="line">
            <a:avLst/>
          </a:prstGeom>
          <a:noFill/>
          <a:ln w="25400">
            <a:solidFill>
              <a:srgbClr val="C97B3D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7397496" y="1417320"/>
            <a:ext cx="1033272" cy="868680"/>
          </a:xfrm>
          <a:prstGeom prst="roundRect">
            <a:avLst>
              <a:gd name="adj" fmla="val 6316"/>
            </a:avLst>
          </a:prstGeom>
          <a:solidFill>
            <a:srgbClr val="2C5F2D"/>
          </a:solidFill>
          <a:ln/>
        </p:spPr>
      </p:sp>
      <p:sp>
        <p:nvSpPr>
          <p:cNvPr id="24" name="Text 21"/>
          <p:cNvSpPr/>
          <p:nvPr/>
        </p:nvSpPr>
        <p:spPr>
          <a:xfrm>
            <a:off x="7397496" y="1417320"/>
            <a:ext cx="10332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Split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8430768" y="1851660"/>
            <a:ext cx="123444" cy="0"/>
          </a:xfrm>
          <a:prstGeom prst="line">
            <a:avLst/>
          </a:prstGeom>
          <a:noFill/>
          <a:ln w="25400">
            <a:solidFill>
              <a:srgbClr val="C97B3D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8554212" y="1417320"/>
            <a:ext cx="1033272" cy="868680"/>
          </a:xfrm>
          <a:prstGeom prst="roundRect">
            <a:avLst>
              <a:gd name="adj" fmla="val 6316"/>
            </a:avLst>
          </a:prstGeom>
          <a:solidFill>
            <a:srgbClr val="97BC62"/>
          </a:solidFill>
          <a:ln/>
        </p:spPr>
      </p:sp>
      <p:sp>
        <p:nvSpPr>
          <p:cNvPr id="27" name="Text 24"/>
          <p:cNvSpPr/>
          <p:nvPr/>
        </p:nvSpPr>
        <p:spPr>
          <a:xfrm>
            <a:off x="8554212" y="1417320"/>
            <a:ext cx="10332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9587484" y="1851660"/>
            <a:ext cx="123444" cy="0"/>
          </a:xfrm>
          <a:prstGeom prst="line">
            <a:avLst/>
          </a:prstGeom>
          <a:noFill/>
          <a:ln w="25400">
            <a:solidFill>
              <a:srgbClr val="C97B3D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9710928" y="1417320"/>
            <a:ext cx="1033272" cy="868680"/>
          </a:xfrm>
          <a:prstGeom prst="roundRect">
            <a:avLst>
              <a:gd name="adj" fmla="val 6316"/>
            </a:avLst>
          </a:prstGeom>
          <a:solidFill>
            <a:srgbClr val="2C5F2D"/>
          </a:solidFill>
          <a:ln/>
        </p:spPr>
      </p:sp>
      <p:sp>
        <p:nvSpPr>
          <p:cNvPr id="30" name="Text 27"/>
          <p:cNvSpPr/>
          <p:nvPr/>
        </p:nvSpPr>
        <p:spPr>
          <a:xfrm>
            <a:off x="9710928" y="1417320"/>
            <a:ext cx="10332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10744200" y="1851660"/>
            <a:ext cx="123444" cy="0"/>
          </a:xfrm>
          <a:prstGeom prst="line">
            <a:avLst/>
          </a:prstGeom>
          <a:noFill/>
          <a:ln w="25400">
            <a:solidFill>
              <a:srgbClr val="C97B3D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10867644" y="1417320"/>
            <a:ext cx="1033272" cy="868680"/>
          </a:xfrm>
          <a:prstGeom prst="roundRect">
            <a:avLst>
              <a:gd name="adj" fmla="val 6316"/>
            </a:avLst>
          </a:prstGeom>
          <a:solidFill>
            <a:srgbClr val="97BC62"/>
          </a:solidFill>
          <a:ln/>
        </p:spPr>
      </p:sp>
      <p:sp>
        <p:nvSpPr>
          <p:cNvPr id="33" name="Text 30"/>
          <p:cNvSpPr/>
          <p:nvPr/>
        </p:nvSpPr>
        <p:spPr>
          <a:xfrm>
            <a:off x="10867644" y="1417320"/>
            <a:ext cx="10332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9070848" y="2286000"/>
            <a:ext cx="0" cy="457200"/>
          </a:xfrm>
          <a:prstGeom prst="line">
            <a:avLst/>
          </a:prstGeom>
          <a:noFill/>
          <a:ln w="25400">
            <a:solidFill>
              <a:srgbClr val="C97B3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818120" y="2606040"/>
            <a:ext cx="2148840" cy="457200"/>
          </a:xfrm>
          <a:prstGeom prst="roundRect">
            <a:avLst>
              <a:gd name="adj" fmla="val 10000"/>
            </a:avLst>
          </a:prstGeom>
          <a:solidFill>
            <a:srgbClr val="EEF3E8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818120" y="26060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7818120" y="3172968"/>
            <a:ext cx="2148840" cy="457200"/>
          </a:xfrm>
          <a:prstGeom prst="roundRect">
            <a:avLst>
              <a:gd name="adj" fmla="val 10000"/>
            </a:avLst>
          </a:prstGeom>
          <a:solidFill>
            <a:srgbClr val="EEF3E8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818120" y="317296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Regression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7818120" y="3739896"/>
            <a:ext cx="2148840" cy="457200"/>
          </a:xfrm>
          <a:prstGeom prst="roundRect">
            <a:avLst>
              <a:gd name="adj" fmla="val 10000"/>
            </a:avLst>
          </a:prstGeom>
          <a:solidFill>
            <a:srgbClr val="EEF3E8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18120" y="3739896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457200" y="443484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1F3A20"/>
          </a:solidFill>
          <a:ln/>
        </p:spPr>
      </p:sp>
      <p:sp>
        <p:nvSpPr>
          <p:cNvPr id="42" name="Text 39"/>
          <p:cNvSpPr/>
          <p:nvPr/>
        </p:nvSpPr>
        <p:spPr>
          <a:xfrm>
            <a:off x="457200" y="443484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Crop Yield Prediction</a:t>
            </a:r>
            <a:endParaRPr lang="en-US" sz="1800" dirty="0"/>
          </a:p>
        </p:txBody>
      </p:sp>
      <p:sp>
        <p:nvSpPr>
          <p:cNvPr id="43" name="Shape 40"/>
          <p:cNvSpPr/>
          <p:nvPr/>
        </p:nvSpPr>
        <p:spPr>
          <a:xfrm>
            <a:off x="457200" y="553212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EEF3E8"/>
          </a:solidFill>
          <a:ln/>
        </p:spPr>
      </p:sp>
      <p:sp>
        <p:nvSpPr>
          <p:cNvPr id="44" name="Text 41"/>
          <p:cNvSpPr/>
          <p:nvPr/>
        </p:nvSpPr>
        <p:spPr>
          <a:xfrm>
            <a:off x="685800" y="5623560"/>
            <a:ext cx="108173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strategy: chronological (year-based), not random. 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from 1997–2015 form the training set (15,404 rows, 78.2%); records from 2016–2020 form the test set (4,285 rows, 21.8%). Because the data spans 24 years, a random split would let the model “see” future years during training — a chronological split better reflects the real task of predicting yield for years not yet observed.</a:t>
            </a:r>
            <a:endParaRPr lang="en-US" sz="1250" dirty="0"/>
          </a:p>
        </p:txBody>
      </p:sp>
      <p:sp>
        <p:nvSpPr>
          <p:cNvPr id="45" name="Text 4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Prediction · Ridge, Lasso &amp; Elastic Net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/home/claude/work/icons/sqr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31" y="452079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47472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3639312" cy="5074920"/>
          </a:xfrm>
          <a:prstGeom prst="roundRect">
            <a:avLst>
              <a:gd name="adj" fmla="val 2010"/>
            </a:avLst>
          </a:prstGeom>
          <a:solidFill>
            <a:srgbClr val="EEF3E8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280160"/>
            <a:ext cx="3639312" cy="777240"/>
          </a:xfrm>
          <a:prstGeom prst="roundRect">
            <a:avLst>
              <a:gd name="adj" fmla="val 9412"/>
            </a:avLst>
          </a:prstGeom>
          <a:solidFill>
            <a:srgbClr val="2C5F2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737360"/>
            <a:ext cx="363931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353312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 Regression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640080" y="1719072"/>
            <a:ext cx="3273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Regularization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2194560"/>
            <a:ext cx="327355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97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2194560"/>
            <a:ext cx="3182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3A2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Loss = RSS + λ Σβ²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58368" y="3081528"/>
            <a:ext cx="91440" cy="91440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2944368"/>
            <a:ext cx="30449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coefficient magnitude toward zero but rarely to exactly zero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58368" y="4105656"/>
            <a:ext cx="91440" cy="91440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" y="3968496"/>
            <a:ext cx="30449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multicollinearity by spreading weight across correlated features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58368" y="5129784"/>
            <a:ext cx="91440" cy="91440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17" name="Text 14"/>
          <p:cNvSpPr/>
          <p:nvPr/>
        </p:nvSpPr>
        <p:spPr>
          <a:xfrm>
            <a:off x="841248" y="4992624"/>
            <a:ext cx="30449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all features in the model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270248" y="1280160"/>
            <a:ext cx="3639312" cy="5074920"/>
          </a:xfrm>
          <a:prstGeom prst="roundRect">
            <a:avLst>
              <a:gd name="adj" fmla="val 2010"/>
            </a:avLst>
          </a:prstGeom>
          <a:solidFill>
            <a:srgbClr val="EEF3E8"/>
          </a:solidFill>
          <a:ln/>
        </p:spPr>
      </p:sp>
      <p:sp>
        <p:nvSpPr>
          <p:cNvPr id="19" name="Shape 16"/>
          <p:cNvSpPr/>
          <p:nvPr/>
        </p:nvSpPr>
        <p:spPr>
          <a:xfrm>
            <a:off x="4270248" y="1280160"/>
            <a:ext cx="3639312" cy="777240"/>
          </a:xfrm>
          <a:prstGeom prst="roundRect">
            <a:avLst>
              <a:gd name="adj" fmla="val 9412"/>
            </a:avLst>
          </a:prstGeom>
          <a:solidFill>
            <a:srgbClr val="2C5F2D"/>
          </a:solidFill>
          <a:ln/>
        </p:spPr>
      </p:sp>
      <p:sp>
        <p:nvSpPr>
          <p:cNvPr id="20" name="Shape 17"/>
          <p:cNvSpPr/>
          <p:nvPr/>
        </p:nvSpPr>
        <p:spPr>
          <a:xfrm>
            <a:off x="4270248" y="1737360"/>
            <a:ext cx="363931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1" name="Text 18"/>
          <p:cNvSpPr/>
          <p:nvPr/>
        </p:nvSpPr>
        <p:spPr>
          <a:xfrm>
            <a:off x="4453128" y="1353312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Lasso Regression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4453128" y="1719072"/>
            <a:ext cx="3273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Regularization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453128" y="2194560"/>
            <a:ext cx="327355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97B3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498848" y="2194560"/>
            <a:ext cx="3182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3A2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Loss = RSS + λ Σ|β|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4471416" y="3081528"/>
            <a:ext cx="91440" cy="91440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26" name="Text 23"/>
          <p:cNvSpPr/>
          <p:nvPr/>
        </p:nvSpPr>
        <p:spPr>
          <a:xfrm>
            <a:off x="4654296" y="2944368"/>
            <a:ext cx="30449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shrink some coefficients exactly to zero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471416" y="4105656"/>
            <a:ext cx="91440" cy="91440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28" name="Text 25"/>
          <p:cNvSpPr/>
          <p:nvPr/>
        </p:nvSpPr>
        <p:spPr>
          <a:xfrm>
            <a:off x="4654296" y="3968496"/>
            <a:ext cx="30449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automatic feature selection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471416" y="5129784"/>
            <a:ext cx="91440" cy="91440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30" name="Text 27"/>
          <p:cNvSpPr/>
          <p:nvPr/>
        </p:nvSpPr>
        <p:spPr>
          <a:xfrm>
            <a:off x="4654296" y="4992624"/>
            <a:ext cx="30449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dataset, 56 of 100 encoded features were reduced to zero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083296" y="1280160"/>
            <a:ext cx="3639312" cy="5074920"/>
          </a:xfrm>
          <a:prstGeom prst="roundRect">
            <a:avLst>
              <a:gd name="adj" fmla="val 2010"/>
            </a:avLst>
          </a:prstGeom>
          <a:solidFill>
            <a:srgbClr val="EEF3E8"/>
          </a:solidFill>
          <a:ln/>
        </p:spPr>
      </p:sp>
      <p:sp>
        <p:nvSpPr>
          <p:cNvPr id="32" name="Shape 29"/>
          <p:cNvSpPr/>
          <p:nvPr/>
        </p:nvSpPr>
        <p:spPr>
          <a:xfrm>
            <a:off x="8083296" y="1280160"/>
            <a:ext cx="3639312" cy="777240"/>
          </a:xfrm>
          <a:prstGeom prst="roundRect">
            <a:avLst>
              <a:gd name="adj" fmla="val 9412"/>
            </a:avLst>
          </a:prstGeom>
          <a:solidFill>
            <a:srgbClr val="2C5F2D"/>
          </a:solidFill>
          <a:ln/>
        </p:spPr>
      </p:sp>
      <p:sp>
        <p:nvSpPr>
          <p:cNvPr id="33" name="Shape 30"/>
          <p:cNvSpPr/>
          <p:nvPr/>
        </p:nvSpPr>
        <p:spPr>
          <a:xfrm>
            <a:off x="8083296" y="1737360"/>
            <a:ext cx="363931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4" name="Text 31"/>
          <p:cNvSpPr/>
          <p:nvPr/>
        </p:nvSpPr>
        <p:spPr>
          <a:xfrm>
            <a:off x="8266176" y="1353312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 Net</a:t>
            </a:r>
            <a:endParaRPr lang="en-US" sz="1650" dirty="0"/>
          </a:p>
        </p:txBody>
      </p:sp>
      <p:sp>
        <p:nvSpPr>
          <p:cNvPr id="35" name="Text 32"/>
          <p:cNvSpPr/>
          <p:nvPr/>
        </p:nvSpPr>
        <p:spPr>
          <a:xfrm>
            <a:off x="8266176" y="1719072"/>
            <a:ext cx="3273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+ L2 Regularization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8266176" y="2194560"/>
            <a:ext cx="327355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97B3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311896" y="2194560"/>
            <a:ext cx="3182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3A2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Loss = RSS + λ[αΣ|β| + (1−α)Σβ²]</a:t>
            </a:r>
            <a:endParaRPr lang="en-US" sz="1350" dirty="0"/>
          </a:p>
        </p:txBody>
      </p:sp>
      <p:sp>
        <p:nvSpPr>
          <p:cNvPr id="38" name="Shape 35"/>
          <p:cNvSpPr/>
          <p:nvPr/>
        </p:nvSpPr>
        <p:spPr>
          <a:xfrm>
            <a:off x="8284464" y="3081528"/>
            <a:ext cx="91440" cy="91440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39" name="Text 36"/>
          <p:cNvSpPr/>
          <p:nvPr/>
        </p:nvSpPr>
        <p:spPr>
          <a:xfrm>
            <a:off x="8467344" y="2944368"/>
            <a:ext cx="30449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Ridge's stability with Lasso's feature selection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8284464" y="4105656"/>
            <a:ext cx="91440" cy="91440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41" name="Text 38"/>
          <p:cNvSpPr/>
          <p:nvPr/>
        </p:nvSpPr>
        <p:spPr>
          <a:xfrm>
            <a:off x="8467344" y="3968496"/>
            <a:ext cx="30449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useful when many features are correlated (area, fertilizer, pesticide)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8284464" y="5129784"/>
            <a:ext cx="91440" cy="91440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43" name="Text 40"/>
          <p:cNvSpPr/>
          <p:nvPr/>
        </p:nvSpPr>
        <p:spPr>
          <a:xfrm>
            <a:off x="8467344" y="4992624"/>
            <a:ext cx="30449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controls the L1/L2 balance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Prediction · Ridge, Lasso &amp; Elastic Net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/home/claude/work/icons/checkcircl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31" y="452079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47472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2724912" cy="2743200"/>
          </a:xfrm>
          <a:prstGeom prst="roundRect">
            <a:avLst>
              <a:gd name="adj" fmla="val 2685"/>
            </a:avLst>
          </a:prstGeom>
          <a:solidFill>
            <a:srgbClr val="EEF3E8"/>
          </a:solidFill>
          <a:ln/>
        </p:spPr>
      </p:sp>
      <p:sp>
        <p:nvSpPr>
          <p:cNvPr id="6" name="Shape 3"/>
          <p:cNvSpPr/>
          <p:nvPr/>
        </p:nvSpPr>
        <p:spPr>
          <a:xfrm>
            <a:off x="1499616" y="155448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7" name="Image 1" descr="/home/claude/work/icons/thermomet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6426" y="1631290"/>
            <a:ext cx="486461" cy="4864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2331720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94360" y="2788920"/>
            <a:ext cx="2450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40080" y="3246120"/>
            <a:ext cx="23591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absolute difference between predicted and actual yield.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310128" y="1371600"/>
            <a:ext cx="2724912" cy="2743200"/>
          </a:xfrm>
          <a:prstGeom prst="roundRect">
            <a:avLst>
              <a:gd name="adj" fmla="val 2685"/>
            </a:avLst>
          </a:prstGeom>
          <a:solidFill>
            <a:srgbClr val="EEF3E8"/>
          </a:solidFill>
          <a:ln/>
        </p:spPr>
      </p:sp>
      <p:sp>
        <p:nvSpPr>
          <p:cNvPr id="12" name="Shape 8"/>
          <p:cNvSpPr/>
          <p:nvPr/>
        </p:nvSpPr>
        <p:spPr>
          <a:xfrm>
            <a:off x="4352544" y="155448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3" name="Image 2" descr="/home/claude/work/icons/chartba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9354" y="1631290"/>
            <a:ext cx="486461" cy="4864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10128" y="2331720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MSE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3447288" y="2788920"/>
            <a:ext cx="2450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Squared Error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3493008" y="3246120"/>
            <a:ext cx="23591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squared errors — penalizes larger mistakes more heavily.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163056" y="1371600"/>
            <a:ext cx="2724912" cy="2743200"/>
          </a:xfrm>
          <a:prstGeom prst="roundRect">
            <a:avLst>
              <a:gd name="adj" fmla="val 2685"/>
            </a:avLst>
          </a:prstGeom>
          <a:solidFill>
            <a:srgbClr val="EEF3E8"/>
          </a:solidFill>
          <a:ln/>
        </p:spPr>
      </p:sp>
      <p:sp>
        <p:nvSpPr>
          <p:cNvPr id="18" name="Shape 13"/>
          <p:cNvSpPr/>
          <p:nvPr/>
        </p:nvSpPr>
        <p:spPr>
          <a:xfrm>
            <a:off x="7205472" y="155448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9" name="Image 3" descr="/home/claude/work/icons/water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2282" y="1631290"/>
            <a:ext cx="486461" cy="48646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163056" y="2331720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6300216" y="2788920"/>
            <a:ext cx="2450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6345936" y="3246120"/>
            <a:ext cx="23591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root of MSE — expressed in the same unit as yield.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9015984" y="1371600"/>
            <a:ext cx="2724912" cy="2743200"/>
          </a:xfrm>
          <a:prstGeom prst="roundRect">
            <a:avLst>
              <a:gd name="adj" fmla="val 2685"/>
            </a:avLst>
          </a:prstGeom>
          <a:solidFill>
            <a:srgbClr val="EEF3E8"/>
          </a:solidFill>
          <a:ln/>
        </p:spPr>
      </p:sp>
      <p:sp>
        <p:nvSpPr>
          <p:cNvPr id="24" name="Shape 18"/>
          <p:cNvSpPr/>
          <p:nvPr/>
        </p:nvSpPr>
        <p:spPr>
          <a:xfrm>
            <a:off x="10058400" y="155448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5" name="Image 4" descr="/home/claude/work/icons/trophy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35210" y="1631290"/>
            <a:ext cx="486461" cy="48646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015984" y="2331720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9153144" y="2788920"/>
            <a:ext cx="2450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of Determination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9198864" y="3246120"/>
            <a:ext cx="23591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variance in yield explained by the model (0–1, higher is better).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57200" y="4343400"/>
            <a:ext cx="11274552" cy="1737360"/>
          </a:xfrm>
          <a:prstGeom prst="roundRect">
            <a:avLst>
              <a:gd name="adj" fmla="val 4211"/>
            </a:avLst>
          </a:prstGeom>
          <a:solidFill>
            <a:srgbClr val="2C5F2D"/>
          </a:solidFill>
          <a:ln/>
        </p:spPr>
      </p:sp>
      <p:sp>
        <p:nvSpPr>
          <p:cNvPr id="30" name="Text 23"/>
          <p:cNvSpPr/>
          <p:nvPr/>
        </p:nvSpPr>
        <p:spPr>
          <a:xfrm>
            <a:off x="685800" y="446227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Plan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68580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merged dataset chronologically (train: 1997–2015, test: 2016–2020).
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Ridge, Lasso and Elastic Net on the same scaled / encoded training features, tuning each model's regularization strength via 5-fold cross-validation.
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model on the identical held-out test set using MAE, MSE, RMSE and R², and compare (Slide 14).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Prediction · Ridge, Lasso &amp; Elastic Net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/home/claude/work/icons/troph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31" y="452079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47472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2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394960" cy="21031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91,545.3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302.57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89,691.4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299.49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 Net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90,432.4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300.72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35204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(cross-validated λ selection; test set = 2016–2020 records, chronological split)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457200" y="397764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EEF3E8"/>
          </a:solidFill>
          <a:ln/>
        </p:spPr>
      </p:sp>
      <p:sp>
        <p:nvSpPr>
          <p:cNvPr id="8" name="Shape 4"/>
          <p:cNvSpPr/>
          <p:nvPr/>
        </p:nvSpPr>
        <p:spPr>
          <a:xfrm>
            <a:off x="685800" y="4160520"/>
            <a:ext cx="502920" cy="502920"/>
          </a:xfrm>
          <a:prstGeom prst="ellipse">
            <a:avLst/>
          </a:prstGeom>
          <a:solidFill>
            <a:srgbClr val="C97B3D"/>
          </a:solidFill>
          <a:ln/>
        </p:spPr>
      </p:sp>
      <p:pic>
        <p:nvPicPr>
          <p:cNvPr id="9" name="Image 1" descr="/home/claude/work/icons/troph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4220870"/>
            <a:ext cx="382219" cy="3822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5880" y="420624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model: Lasso Regression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685800" y="470916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achieves the lowest MAE, MSE and RMSE and the highest R² (0.876) among the three models on the chronological test set.
</a:t>
            </a: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L1 penalty reduced 56 of the 100 encoded features to exactly zero — effectively performing feature selection while matching or slightly beating Ridge and Elastic Net on predictive accuracy.</a:t>
            </a:r>
            <a:endParaRPr lang="en-US" sz="12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6126480" y="1280160"/>
          <a:ext cx="5605272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3" name="Chart 1"/>
          <p:cNvGraphicFramePr/>
          <p:nvPr/>
        </p:nvGraphicFramePr>
        <p:xfrm>
          <a:off x="6126480" y="3749040"/>
          <a:ext cx="5605272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4" name="Text 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Prediction · Ridge, Lasso &amp; Elastic Net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287397-B0C7-5B3D-66E3-B0F06A928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FA87EEF-E60B-601D-C2E7-EC0C5EDFE8E1}"/>
              </a:ext>
            </a:extLst>
          </p:cNvPr>
          <p:cNvSpPr/>
          <p:nvPr/>
        </p:nvSpPr>
        <p:spPr>
          <a:xfrm>
            <a:off x="-1463040" y="4389120"/>
            <a:ext cx="5029200" cy="5029200"/>
          </a:xfrm>
          <a:prstGeom prst="ellipse">
            <a:avLst/>
          </a:prstGeom>
          <a:solidFill>
            <a:srgbClr val="2C5F2D">
              <a:alpha val="45000"/>
            </a:srgbClr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E712AA2-098C-58FD-3823-91D26E2F8A3D}"/>
              </a:ext>
            </a:extLst>
          </p:cNvPr>
          <p:cNvSpPr/>
          <p:nvPr/>
        </p:nvSpPr>
        <p:spPr>
          <a:xfrm>
            <a:off x="9966960" y="-1645920"/>
            <a:ext cx="3840480" cy="3840480"/>
          </a:xfrm>
          <a:prstGeom prst="ellipse">
            <a:avLst/>
          </a:prstGeom>
          <a:solidFill>
            <a:srgbClr val="97BC62">
              <a:alpha val="35000"/>
            </a:srgbClr>
          </a:solidFill>
          <a:ln/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500E1B5-F3BD-BEC8-4D94-57FAE85EF7E5}"/>
              </a:ext>
            </a:extLst>
          </p:cNvPr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5" name="Image 0" descr="/home/claude/work/icons/flag_FFFFFF.png">
            <a:extLst>
              <a:ext uri="{FF2B5EF4-FFF2-40B4-BE49-F238E27FC236}">
                <a16:creationId xmlns:a16="http://schemas.microsoft.com/office/drawing/2014/main" id="{DD932122-D9D1-9907-B398-ABAB892DE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585216"/>
            <a:ext cx="521208" cy="521208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1B45C157-C74B-32C9-BE2B-E92E9086738C}"/>
              </a:ext>
            </a:extLst>
          </p:cNvPr>
          <p:cNvSpPr/>
          <p:nvPr/>
        </p:nvSpPr>
        <p:spPr>
          <a:xfrm>
            <a:off x="1371600" y="53035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40437022-4710-ACA5-403B-3F0DD2472501}"/>
              </a:ext>
            </a:extLst>
          </p:cNvPr>
          <p:cNvSpPr/>
          <p:nvPr/>
        </p:nvSpPr>
        <p:spPr>
          <a:xfrm>
            <a:off x="548640" y="1463040"/>
            <a:ext cx="6949440" cy="4480560"/>
          </a:xfrm>
          <a:prstGeom prst="roundRect">
            <a:avLst>
              <a:gd name="adj" fmla="val 16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BB10939A-02B4-8A9F-B85B-E984084CD099}"/>
              </a:ext>
            </a:extLst>
          </p:cNvPr>
          <p:cNvSpPr/>
          <p:nvPr/>
        </p:nvSpPr>
        <p:spPr>
          <a:xfrm>
            <a:off x="822960" y="1764792"/>
            <a:ext cx="109728" cy="109728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9A8CF17-53DE-62EC-AA6D-5332E0A2A1BC}"/>
              </a:ext>
            </a:extLst>
          </p:cNvPr>
          <p:cNvSpPr/>
          <p:nvPr/>
        </p:nvSpPr>
        <p:spPr>
          <a:xfrm>
            <a:off x="1051560" y="1600200"/>
            <a:ext cx="6309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Addressed crop yield prediction using real multi-source agricultural data (crop records, soil profiles, weather) for 30 Indian states, 1997–2020.</a:t>
            </a:r>
            <a:endParaRPr lang="en-US" sz="13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6C813D5-CB23-2902-C6F6-12B36697A120}"/>
              </a:ext>
            </a:extLst>
          </p:cNvPr>
          <p:cNvSpPr/>
          <p:nvPr/>
        </p:nvSpPr>
        <p:spPr>
          <a:xfrm>
            <a:off x="822960" y="2862072"/>
            <a:ext cx="109728" cy="109728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AEAF717-18BD-74C3-E208-4FC190FFEC51}"/>
              </a:ext>
            </a:extLst>
          </p:cNvPr>
          <p:cNvSpPr/>
          <p:nvPr/>
        </p:nvSpPr>
        <p:spPr>
          <a:xfrm>
            <a:off x="1051560" y="2697480"/>
            <a:ext cx="6309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19,689 crop-yield rows with state soil and state-year weather data into a single 19,689 × 16 modeling table with zero missing values.</a:t>
            </a:r>
            <a:endParaRPr lang="en-US" sz="13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810FEB7E-AD23-8241-3023-0FD430EC0924}"/>
              </a:ext>
            </a:extLst>
          </p:cNvPr>
          <p:cNvSpPr/>
          <p:nvPr/>
        </p:nvSpPr>
        <p:spPr>
          <a:xfrm>
            <a:off x="822960" y="3959352"/>
            <a:ext cx="109728" cy="109728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93DA025A-A569-1761-6C24-73EFB44C8016}"/>
              </a:ext>
            </a:extLst>
          </p:cNvPr>
          <p:cNvSpPr/>
          <p:nvPr/>
        </p:nvSpPr>
        <p:spPr>
          <a:xfrm>
            <a:off x="1051560" y="3794760"/>
            <a:ext cx="6309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Ridge, Lasso and Elastic Net specifically because area, fertilizer and pesticide were found to be highly correlated (r ≥ 0.95) — a textbook multicollinearity scenario.</a:t>
            </a:r>
            <a:endParaRPr lang="en-US" sz="130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027E9AA5-EA8B-556D-9516-E2BE0D9570F8}"/>
              </a:ext>
            </a:extLst>
          </p:cNvPr>
          <p:cNvSpPr/>
          <p:nvPr/>
        </p:nvSpPr>
        <p:spPr>
          <a:xfrm>
            <a:off x="822960" y="5056632"/>
            <a:ext cx="109728" cy="109728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0211FA55-739C-4949-251C-741E1947FF71}"/>
              </a:ext>
            </a:extLst>
          </p:cNvPr>
          <p:cNvSpPr/>
          <p:nvPr/>
        </p:nvSpPr>
        <p:spPr>
          <a:xfrm>
            <a:off x="1051560" y="4892040"/>
            <a:ext cx="6309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chronological 2016–2020 test set, all three models perform similarly (R² ≈ 0.87–0.88); Lasso is marginally best (R² = 0.876) while also zeroing out 56 of 100 encoded features.</a:t>
            </a:r>
            <a:endParaRPr lang="en-US" sz="130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FE4AE5AD-9CFC-29B2-98FA-996398146360}"/>
              </a:ext>
            </a:extLst>
          </p:cNvPr>
          <p:cNvSpPr/>
          <p:nvPr/>
        </p:nvSpPr>
        <p:spPr>
          <a:xfrm>
            <a:off x="7680960" y="1463040"/>
            <a:ext cx="4050792" cy="4480560"/>
          </a:xfrm>
          <a:prstGeom prst="roundRect">
            <a:avLst>
              <a:gd name="adj" fmla="val 1806"/>
            </a:avLst>
          </a:prstGeom>
          <a:solidFill>
            <a:srgbClr val="2C5F2D"/>
          </a:solidFill>
          <a:ln/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83113AE1-900B-9C2F-F805-92739ADEAF11}"/>
              </a:ext>
            </a:extLst>
          </p:cNvPr>
          <p:cNvSpPr/>
          <p:nvPr/>
        </p:nvSpPr>
        <p:spPr>
          <a:xfrm>
            <a:off x="7909560" y="16276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VALUE</a:t>
            </a:r>
            <a:endParaRPr lang="en-US" sz="110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662E04FA-3E5C-B96F-C7E1-6724A5A36042}"/>
              </a:ext>
            </a:extLst>
          </p:cNvPr>
          <p:cNvSpPr/>
          <p:nvPr/>
        </p:nvSpPr>
        <p:spPr>
          <a:xfrm>
            <a:off x="7909560" y="205740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19" name="Image 1" descr="/home/claude/work/icons/seedling_2C5F2D.png">
            <a:extLst>
              <a:ext uri="{FF2B5EF4-FFF2-40B4-BE49-F238E27FC236}">
                <a16:creationId xmlns:a16="http://schemas.microsoft.com/office/drawing/2014/main" id="{2C5B775D-01C4-73CD-909E-D0BE0E8FC1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4" y="2112264"/>
            <a:ext cx="347472" cy="347472"/>
          </a:xfrm>
          <a:prstGeom prst="rect">
            <a:avLst/>
          </a:prstGeom>
        </p:spPr>
      </p:pic>
      <p:sp>
        <p:nvSpPr>
          <p:cNvPr id="20" name="Text 16">
            <a:extLst>
              <a:ext uri="{FF2B5EF4-FFF2-40B4-BE49-F238E27FC236}">
                <a16:creationId xmlns:a16="http://schemas.microsoft.com/office/drawing/2014/main" id="{DE23CBB5-ADE0-8363-0686-4D8535E251D9}"/>
              </a:ext>
            </a:extLst>
          </p:cNvPr>
          <p:cNvSpPr/>
          <p:nvPr/>
        </p:nvSpPr>
        <p:spPr>
          <a:xfrm>
            <a:off x="8503920" y="203911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agricultural planning with data-driven yield estimates</a:t>
            </a:r>
            <a:endParaRPr lang="en-US" sz="1150" dirty="0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0A4E2B45-3809-BA74-471B-0C3157B1EF9C}"/>
              </a:ext>
            </a:extLst>
          </p:cNvPr>
          <p:cNvSpPr/>
          <p:nvPr/>
        </p:nvSpPr>
        <p:spPr>
          <a:xfrm>
            <a:off x="7909560" y="292608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22" name="Image 2" descr="/home/claude/work/icons/cogs_2C5F2D.png">
            <a:extLst>
              <a:ext uri="{FF2B5EF4-FFF2-40B4-BE49-F238E27FC236}">
                <a16:creationId xmlns:a16="http://schemas.microsoft.com/office/drawing/2014/main" id="{0B38AAD2-54F4-B56C-2A16-41AC4CD94A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4424" y="2980944"/>
            <a:ext cx="347472" cy="347472"/>
          </a:xfrm>
          <a:prstGeom prst="rect">
            <a:avLst/>
          </a:prstGeom>
        </p:spPr>
      </p:pic>
      <p:sp>
        <p:nvSpPr>
          <p:cNvPr id="23" name="Text 18">
            <a:extLst>
              <a:ext uri="{FF2B5EF4-FFF2-40B4-BE49-F238E27FC236}">
                <a16:creationId xmlns:a16="http://schemas.microsoft.com/office/drawing/2014/main" id="{B54EE403-33E4-E775-FDD8-E13B47143164}"/>
              </a:ext>
            </a:extLst>
          </p:cNvPr>
          <p:cNvSpPr/>
          <p:nvPr/>
        </p:nvSpPr>
        <p:spPr>
          <a:xfrm>
            <a:off x="8503920" y="290779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fertilizer / pesticide resource allocation</a:t>
            </a:r>
            <a:endParaRPr lang="en-US" sz="1150" dirty="0"/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54A51860-33A2-A753-E495-7653421579BB}"/>
              </a:ext>
            </a:extLst>
          </p:cNvPr>
          <p:cNvSpPr/>
          <p:nvPr/>
        </p:nvSpPr>
        <p:spPr>
          <a:xfrm>
            <a:off x="7909560" y="379476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25" name="Image 3" descr="/home/claude/work/icons/chartbar_2C5F2D.png">
            <a:extLst>
              <a:ext uri="{FF2B5EF4-FFF2-40B4-BE49-F238E27FC236}">
                <a16:creationId xmlns:a16="http://schemas.microsoft.com/office/drawing/2014/main" id="{D98D10F9-26EC-8245-80B4-62F52D3EB4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4424" y="3849624"/>
            <a:ext cx="347472" cy="347472"/>
          </a:xfrm>
          <a:prstGeom prst="rect">
            <a:avLst/>
          </a:prstGeom>
        </p:spPr>
      </p:pic>
      <p:sp>
        <p:nvSpPr>
          <p:cNvPr id="26" name="Text 20">
            <a:extLst>
              <a:ext uri="{FF2B5EF4-FFF2-40B4-BE49-F238E27FC236}">
                <a16:creationId xmlns:a16="http://schemas.microsoft.com/office/drawing/2014/main" id="{DB9EF566-F5E3-4AA5-5F41-A84EDBD293EC}"/>
              </a:ext>
            </a:extLst>
          </p:cNvPr>
          <p:cNvSpPr/>
          <p:nvPr/>
        </p:nvSpPr>
        <p:spPr>
          <a:xfrm>
            <a:off x="8503920" y="377647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which factors matter most for yield</a:t>
            </a:r>
            <a:endParaRPr lang="en-US" sz="1150" dirty="0"/>
          </a:p>
        </p:txBody>
      </p:sp>
      <p:sp>
        <p:nvSpPr>
          <p:cNvPr id="27" name="Shape 21">
            <a:extLst>
              <a:ext uri="{FF2B5EF4-FFF2-40B4-BE49-F238E27FC236}">
                <a16:creationId xmlns:a16="http://schemas.microsoft.com/office/drawing/2014/main" id="{B11E75AC-7608-95C6-9C72-0B0808E36E92}"/>
              </a:ext>
            </a:extLst>
          </p:cNvPr>
          <p:cNvSpPr/>
          <p:nvPr/>
        </p:nvSpPr>
        <p:spPr>
          <a:xfrm>
            <a:off x="7909560" y="466344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28" name="Image 4" descr="/home/claude/work/icons/leaf_2C5F2D.png">
            <a:extLst>
              <a:ext uri="{FF2B5EF4-FFF2-40B4-BE49-F238E27FC236}">
                <a16:creationId xmlns:a16="http://schemas.microsoft.com/office/drawing/2014/main" id="{4414F395-CA79-E79E-06F0-E2B56CE288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4424" y="4718304"/>
            <a:ext cx="347472" cy="347472"/>
          </a:xfrm>
          <a:prstGeom prst="rect">
            <a:avLst/>
          </a:prstGeom>
        </p:spPr>
      </p:pic>
      <p:sp>
        <p:nvSpPr>
          <p:cNvPr id="29" name="Text 22">
            <a:extLst>
              <a:ext uri="{FF2B5EF4-FFF2-40B4-BE49-F238E27FC236}">
                <a16:creationId xmlns:a16="http://schemas.microsoft.com/office/drawing/2014/main" id="{64A7C4FE-7D0C-E60B-BB8C-49C0954335BD}"/>
              </a:ext>
            </a:extLst>
          </p:cNvPr>
          <p:cNvSpPr/>
          <p:nvPr/>
        </p:nvSpPr>
        <p:spPr>
          <a:xfrm>
            <a:off x="8503920" y="464515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Assisting data-driven crop management decisions</a:t>
            </a:r>
            <a:endParaRPr lang="en-US" sz="1150" dirty="0"/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2B73A4EC-9224-0BD1-9431-051EB47258F6}"/>
              </a:ext>
            </a:extLst>
          </p:cNvPr>
          <p:cNvSpPr/>
          <p:nvPr/>
        </p:nvSpPr>
        <p:spPr>
          <a:xfrm>
            <a:off x="7909560" y="55778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predictions support planning and are not a substitute for agronomic expertise or field-level assessment.</a:t>
            </a:r>
            <a:endParaRPr lang="en-US" sz="950" dirty="0"/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691C22BE-0516-DE81-8D4F-93ABD4E2FF83}"/>
              </a:ext>
            </a:extLst>
          </p:cNvPr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B6B47E61-46DB-028C-8270-49C4BD714B27}"/>
              </a:ext>
            </a:extLst>
          </p:cNvPr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Prediction · Ridge, Lasso &amp; Elastic Net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56160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3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9B0B289C-018C-C1F1-9014-9A68AE7CACC1}"/>
              </a:ext>
            </a:extLst>
          </p:cNvPr>
          <p:cNvSpPr txBox="1"/>
          <p:nvPr/>
        </p:nvSpPr>
        <p:spPr>
          <a:xfrm>
            <a:off x="4569143" y="2828835"/>
            <a:ext cx="71466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800" dirty="0">
                <a:solidFill>
                  <a:schemeClr val="bg1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2282</Words>
  <Application>Microsoft Office PowerPoint</Application>
  <PresentationFormat>Widescreen</PresentationFormat>
  <Paragraphs>340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Chandra Shekar Reddy Thippireddy</cp:lastModifiedBy>
  <cp:revision>4</cp:revision>
  <dcterms:created xsi:type="dcterms:W3CDTF">2026-08-28T05:38:35Z</dcterms:created>
  <dcterms:modified xsi:type="dcterms:W3CDTF">2026-08-28T06:00:10Z</dcterms:modified>
</cp:coreProperties>
</file>